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2a2215ec-66fb-5371-a88f-0bc3cfda5cba}">
          <p14:sldIdLst>
            <p14:sldId id="256"/>
            <p14:sldId id="257"/>
          </p14:sldIdLst>
        </p14:section>
        <p14:section name="Point de départ" id="{d28fae23-046a-9e8f-6b99-4a4a4bbc80cd}">
          <p14:sldIdLst>
            <p14:sldId id="258"/>
            <p14:sldId id="259"/>
          </p14:sldIdLst>
        </p14:section>
        <p14:section name="Démarche" id="{ebbeef4a-b98b-d84c-70d0-76d0334e6252}">
          <p14:sldIdLst>
            <p14:sldId id="260"/>
            <p14:sldId id="261"/>
            <p14:sldId id="262"/>
            <p14:sldId id="263"/>
          </p14:sldIdLst>
        </p14:section>
        <p14:section name="Solution" id="{9a351ad8-2de4-b657-b076-d3dcb5718e5e}">
          <p14:sldIdLst>
            <p14:sldId id="264"/>
            <p14:sldId id="265"/>
            <p14:sldId id="266"/>
          </p14:sldIdLst>
        </p14:section>
        <p14:section name="Tests" id="{75eae962-f2c6-c7cd-dbd5-5ad79b2e3eb3}">
          <p14:sldIdLst>
            <p14:sldId id="267"/>
            <p14:sldId id="268"/>
            <p14:sldId id="269"/>
          </p14:sldIdLst>
        </p14:section>
        <p14:section name="Résultat" id="{611e9eb9-db8b-49ef-f16e-e2eab027708a}">
          <p14:sldIdLst>
            <p14:sldId id="270"/>
            <p14:sldId id="271"/>
            <p14:sldId id="272"/>
            <p14:sldId id="27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Présenter l'objectif de la rencontre : faire le point sur la démarche, montrer le résultat et obtenir l'appui pour la mise en production.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Nouveaux formulaires du 15 octobre 2026 : cadre avec équipe, cadre sans équipe, professionnel non syndiqué. Le contenu ne change pas, c'est la façon de le remplir et de le faire circuler qui change.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prototype n'a pas été du temps perdu : il a servi à valider le contenu des formulaires, les règles d'accès par rôle et le circuit d'approbation, qui ont été repris tels quels dans Power Apps.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8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D9DEE8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6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600" dirty="0">
                <a:solidFill>
                  <a:srgbClr val="D9DEE8"/>
                </a:solidFill>
              </a:defRPr>
            </a:lvl1pPr>
          </a:lstStyle>
          <a:p>
            <a:pPr indent="0" marL="0">
              <a:buNone/>
            </a:pP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DEE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U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3" name="Text 0"/>
          <p:cNvSpPr/>
          <p:nvPr/>
        </p:nvSpPr>
        <p:spPr>
          <a:xfrm>
            <a:off x="457200" y="4773168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accent6"/>
                </a:solidFill>
              </a:rPr>
              <a:t>Appréciation de la contribution · Ressources humaines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DEE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Appréciation de la contribution : du formulaire Word à l'application numérique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EE8"/>
                </a:solidFill>
              </a:rPr>
              <a:t>Démarche, options évaluées, tests et résultat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9DEE8"/>
                </a:solidFill>
              </a:rPr>
              <a:t>Présenté par Annie Audet, conseillère en ressources humaines (RH-SST) — octobre 2026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En bref : où en sommes-nous</a:t>
            </a:r>
            <a:endParaRPr lang="en-US" sz="2800" dirty="0"/>
          </a:p>
        </p:txBody>
      </p:sp>
      <p:sp>
        <p:nvSpPr>
          <p:cNvPr id="3" name="bref0"/>
          <p:cNvSpPr/>
          <p:nvPr/>
        </p:nvSpPr>
        <p:spPr>
          <a:xfrm>
            <a:off x="457200" y="1188720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pastille0"/>
          <p:cNvSpPr/>
          <p:nvPr/>
        </p:nvSpPr>
        <p:spPr>
          <a:xfrm>
            <a:off x="685800" y="1453896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4538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298448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 besoin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618488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Remplacer les formulaires Word d'appréciation par un outil numérique sécurisé, avec circuit d'approbation.</a:t>
            </a:r>
            <a:endParaRPr lang="en-US" sz="1400" dirty="0"/>
          </a:p>
        </p:txBody>
      </p:sp>
      <p:sp>
        <p:nvSpPr>
          <p:cNvPr id="8" name="bref1"/>
          <p:cNvSpPr/>
          <p:nvPr/>
        </p:nvSpPr>
        <p:spPr>
          <a:xfrm>
            <a:off x="457200" y="2304288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astille1"/>
          <p:cNvSpPr/>
          <p:nvPr/>
        </p:nvSpPr>
        <p:spPr>
          <a:xfrm>
            <a:off x="685800" y="2569464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5694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414016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La démarche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734056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Deux approches construites et testées ; l'approche Power Apps a été retenue parce qu'elle est compatible avec notre SharePoint.</a:t>
            </a:r>
            <a:endParaRPr lang="en-US" sz="1400" dirty="0"/>
          </a:p>
        </p:txBody>
      </p:sp>
      <p:sp>
        <p:nvSpPr>
          <p:cNvPr id="13" name="bref2"/>
          <p:cNvSpPr/>
          <p:nvPr/>
        </p:nvSpPr>
        <p:spPr>
          <a:xfrm>
            <a:off x="457200" y="3419856"/>
            <a:ext cx="8229600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pastille2"/>
          <p:cNvSpPr/>
          <p:nvPr/>
        </p:nvSpPr>
        <p:spPr>
          <a:xfrm>
            <a:off x="685800" y="3685032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85800" y="368503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529584"/>
            <a:ext cx="7132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Le résultat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849624"/>
            <a:ext cx="7132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Application fonctionnelle et testée dans le bac à sable, documentée et prête pour la demande de mise en PréProd.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Le point de départ : un processus papier-courriel</a:t>
            </a:r>
            <a:endParaRPr lang="en-US" sz="2800" dirty="0"/>
          </a:p>
        </p:txBody>
      </p:sp>
      <p:sp>
        <p:nvSpPr>
          <p:cNvPr id="3" name="irritant0"/>
          <p:cNvSpPr/>
          <p:nvPr/>
        </p:nvSpPr>
        <p:spPr>
          <a:xfrm>
            <a:off x="457200" y="118872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DF2F2"/>
          </a:solidFill>
          <a:ln w="12700">
            <a:solidFill>
              <a:srgbClr val="FDF2F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533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Versions multiples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556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Le fichier Word circule par courriel ; on perd la bonne version.</a:t>
            </a:r>
            <a:endParaRPr lang="en-US" sz="1400" dirty="0"/>
          </a:p>
        </p:txBody>
      </p:sp>
      <p:sp>
        <p:nvSpPr>
          <p:cNvPr id="6" name="irritant1"/>
          <p:cNvSpPr/>
          <p:nvPr/>
        </p:nvSpPr>
        <p:spPr>
          <a:xfrm>
            <a:off x="4663440" y="118872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DF2F2"/>
          </a:solidFill>
          <a:ln w="12700">
            <a:solidFill>
              <a:srgbClr val="FDF2F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3533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Confidentialité</a:t>
            </a:r>
            <a:endParaRPr lang="en-US" sz="17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7556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Des copies d'évaluations restent dans les boîtes courriel et les ordinateurs.</a:t>
            </a:r>
            <a:endParaRPr lang="en-US" sz="1400" dirty="0"/>
          </a:p>
        </p:txBody>
      </p:sp>
      <p:sp>
        <p:nvSpPr>
          <p:cNvPr id="9" name="irritant2"/>
          <p:cNvSpPr/>
          <p:nvPr/>
        </p:nvSpPr>
        <p:spPr>
          <a:xfrm>
            <a:off x="457200" y="278892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DF2F2"/>
          </a:solidFill>
          <a:ln w="12700">
            <a:solidFill>
              <a:srgbClr val="FDF2F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85800" y="29535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Suivi difficile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33558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Impossible de savoir où en est une appréciation sans relancer.</a:t>
            </a:r>
            <a:endParaRPr lang="en-US" sz="1400" dirty="0"/>
          </a:p>
        </p:txBody>
      </p:sp>
      <p:sp>
        <p:nvSpPr>
          <p:cNvPr id="12" name="irritant3"/>
          <p:cNvSpPr/>
          <p:nvPr/>
        </p:nvSpPr>
        <p:spPr>
          <a:xfrm>
            <a:off x="4663440" y="2788920"/>
            <a:ext cx="4023360" cy="1417320"/>
          </a:xfrm>
          <a:prstGeom prst="roundRect">
            <a:avLst>
              <a:gd name="adj" fmla="val 5161"/>
            </a:avLst>
          </a:prstGeom>
          <a:solidFill>
            <a:srgbClr val="FDF2F2"/>
          </a:solidFill>
          <a:ln w="12700">
            <a:solidFill>
              <a:srgbClr val="FDF2F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892040" y="2953512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5"/>
                </a:solidFill>
              </a:rPr>
              <a:t>Travail manuel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4892040" y="3355848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Signatures, moyennes, synthèse et transmission aux RH faites à la main.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Nos objectifs et nos contraintes</a:t>
            </a:r>
            <a:endParaRPr lang="en-US" sz="2800" dirty="0"/>
          </a:p>
        </p:txBody>
      </p:sp>
      <p:sp>
        <p:nvSpPr>
          <p:cNvPr id="3" name="objectifs"/>
          <p:cNvSpPr/>
          <p:nvPr/>
        </p:nvSpPr>
        <p:spPr>
          <a:xfrm>
            <a:off x="457200" y="1143000"/>
            <a:ext cx="4023360" cy="3429000"/>
          </a:xfrm>
          <a:prstGeom prst="roundRect">
            <a:avLst>
              <a:gd name="adj" fmla="val 213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Objectifs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3736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Intégrer les 3 formulaires du 15 octobre 2026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Circuit : personne, supérieur immédiat, hiérarchique, directeur au besoin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Courriels de suivi automatiques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Transmission de l'évaluation globale aux RH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PDF de l'appréciation complète</a:t>
            </a:r>
            <a:endParaRPr lang="en-US" sz="1400" dirty="0"/>
          </a:p>
        </p:txBody>
      </p:sp>
      <p:sp>
        <p:nvSpPr>
          <p:cNvPr id="6" name="contraintes"/>
          <p:cNvSpPr/>
          <p:nvPr/>
        </p:nvSpPr>
        <p:spPr>
          <a:xfrm>
            <a:off x="4663440" y="1143000"/>
            <a:ext cx="4023360" cy="3429000"/>
          </a:xfrm>
          <a:prstGeom prst="roundRect">
            <a:avLst>
              <a:gd name="adj" fmla="val 2133"/>
            </a:avLst>
          </a:prstGeom>
          <a:solidFill>
            <a:srgbClr val="EEF6F1"/>
          </a:solidFill>
          <a:ln w="12700">
            <a:solidFill>
              <a:srgbClr val="EEF6F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892040" y="12801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Contraintes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4892040" y="1737360"/>
            <a:ext cx="36576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Gratuit : aucune licence Premium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Uniquement les outils Microsoft 365 de la Ville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Accès limité aux seules personnes concernées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Simple à utiliser, sans formation lourde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Conforme au processus de mise en production des TI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 démarche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600" dirty="0">
                <a:solidFill>
                  <a:srgbClr val="D9DEE8"/>
                </a:solidFill>
              </a:rPr>
              <a:t>Ce que nous avons construit, testé et pourquoi nous avons changé de cap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DEE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Les grandes étapes du projet</a:t>
            </a:r>
            <a:endParaRPr lang="en-US" sz="2800" dirty="0"/>
          </a:p>
        </p:txBody>
      </p:sp>
      <p:sp>
        <p:nvSpPr>
          <p:cNvPr id="3" name="ligneTemps"/>
          <p:cNvSpPr/>
          <p:nvPr/>
        </p:nvSpPr>
        <p:spPr>
          <a:xfrm>
            <a:off x="685800" y="2011680"/>
            <a:ext cx="7772400" cy="0"/>
          </a:xfrm>
          <a:prstGeom prst="line">
            <a:avLst/>
          </a:prstGeom>
          <a:noFill/>
          <a:ln w="19050">
            <a:solidFill>
              <a:srgbClr val="6B7280"/>
            </a:solidFill>
            <a:prstDash val="solid"/>
          </a:ln>
        </p:spPr>
      </p:sp>
      <p:sp>
        <p:nvSpPr>
          <p:cNvPr id="4" name="etape0"/>
          <p:cNvSpPr/>
          <p:nvPr/>
        </p:nvSpPr>
        <p:spPr>
          <a:xfrm>
            <a:off x="786384" y="18013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86384" y="1801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377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Formulaires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2834640"/>
            <a:ext cx="1097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Mise à jour des 3 formulaires (15 oct.)</a:t>
            </a:r>
            <a:endParaRPr lang="en-US" sz="1100" dirty="0"/>
          </a:p>
        </p:txBody>
      </p:sp>
      <p:sp>
        <p:nvSpPr>
          <p:cNvPr id="8" name="etape1"/>
          <p:cNvSpPr/>
          <p:nvPr/>
        </p:nvSpPr>
        <p:spPr>
          <a:xfrm>
            <a:off x="1965960" y="18013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965960" y="1801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636776" y="2377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Prototype 1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636776" y="2834640"/>
            <a:ext cx="1097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Application web HTML + listes SharePoint</a:t>
            </a:r>
            <a:endParaRPr lang="en-US" sz="1100" dirty="0"/>
          </a:p>
        </p:txBody>
      </p:sp>
      <p:sp>
        <p:nvSpPr>
          <p:cNvPr id="12" name="etape2"/>
          <p:cNvSpPr/>
          <p:nvPr/>
        </p:nvSpPr>
        <p:spPr>
          <a:xfrm>
            <a:off x="3145536" y="180136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145536" y="1801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816352" y="2377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Tests SharePoint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816352" y="2834640"/>
            <a:ext cx="1097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Blocages découverts dans notre SharePoint</a:t>
            </a:r>
            <a:endParaRPr lang="en-US" sz="1100" dirty="0"/>
          </a:p>
        </p:txBody>
      </p:sp>
      <p:sp>
        <p:nvSpPr>
          <p:cNvPr id="16" name="etape3"/>
          <p:cNvSpPr/>
          <p:nvPr/>
        </p:nvSpPr>
        <p:spPr>
          <a:xfrm>
            <a:off x="4325112" y="1801368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25112" y="1801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3995928" y="2377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Réorientation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3995928" y="2834640"/>
            <a:ext cx="1097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Choix de Power Apps (outil Microsoft)</a:t>
            </a:r>
            <a:endParaRPr lang="en-US" sz="1100" dirty="0"/>
          </a:p>
        </p:txBody>
      </p:sp>
      <p:sp>
        <p:nvSpPr>
          <p:cNvPr id="20" name="etape4"/>
          <p:cNvSpPr/>
          <p:nvPr/>
        </p:nvSpPr>
        <p:spPr>
          <a:xfrm>
            <a:off x="5504688" y="180136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504688" y="1801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5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5175504" y="2377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Construction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175504" y="2834640"/>
            <a:ext cx="1097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Application, 3 flux, 5 variables</a:t>
            </a:r>
            <a:endParaRPr lang="en-US" sz="1100" dirty="0"/>
          </a:p>
        </p:txBody>
      </p:sp>
      <p:sp>
        <p:nvSpPr>
          <p:cNvPr id="24" name="etape5"/>
          <p:cNvSpPr/>
          <p:nvPr/>
        </p:nvSpPr>
        <p:spPr>
          <a:xfrm>
            <a:off x="6684264" y="180136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6684264" y="1801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6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6355080" y="2377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Tests</a:t>
            </a:r>
            <a:endParaRPr lang="en-US" sz="1300" dirty="0"/>
          </a:p>
        </p:txBody>
      </p:sp>
      <p:sp>
        <p:nvSpPr>
          <p:cNvPr id="27" name="Text 25"/>
          <p:cNvSpPr txBox="1"/>
          <p:nvPr/>
        </p:nvSpPr>
        <p:spPr>
          <a:xfrm>
            <a:off x="6355080" y="2834640"/>
            <a:ext cx="1097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Corrections et validation complète</a:t>
            </a:r>
            <a:endParaRPr lang="en-US" sz="1100" dirty="0"/>
          </a:p>
        </p:txBody>
      </p:sp>
      <p:sp>
        <p:nvSpPr>
          <p:cNvPr id="28" name="etape6"/>
          <p:cNvSpPr/>
          <p:nvPr/>
        </p:nvSpPr>
        <p:spPr>
          <a:xfrm>
            <a:off x="7863840" y="1801368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7863840" y="18013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7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7534656" y="237744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tx2"/>
                </a:solidFill>
              </a:rPr>
              <a:t>Mise en prod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7534656" y="2834640"/>
            <a:ext cx="10972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Documentation, dossier TI, communication</a:t>
            </a:r>
            <a:endParaRPr lang="en-US" sz="1100" dirty="0"/>
          </a:p>
        </p:txBody>
      </p:sp>
      <p:sp>
        <p:nvSpPr>
          <p:cNvPr id="32" name="Text 30"/>
          <p:cNvSpPr txBox="1"/>
          <p:nvPr/>
        </p:nvSpPr>
        <p:spPr>
          <a:xfrm>
            <a:off x="457200" y="41605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2"/>
                </a:solidFill>
              </a:rPr>
              <a:t>Étape 4 : le changement de cap, appuyé par les résultats des tests du prototype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Les options évaluées</a:t>
            </a:r>
            <a:endParaRPr lang="en-US" sz="2800" dirty="0"/>
          </a:p>
        </p:txBody>
      </p:sp>
      <p:graphicFrame>
        <p:nvGraphicFramePr>
          <p:cNvPr id="8" name="tableauOption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0"/>
        </p:xfrm>
        <a:graphic>
          <a:graphicData uri="http://schemas.openxmlformats.org/drawingml/2006/table">
            <a:tbl>
              <a:tblPr/>
              <a:tblGrid>
                <a:gridCol w="1920240"/>
                <a:gridCol w="1828800"/>
                <a:gridCol w="2240280"/>
                <a:gridCol w="224028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Critère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Formulaire Word (actuel)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Prototype HTML + SharePoint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bg1"/>
                          </a:solidFill>
                        </a:rPr>
                        <a:t>Power Apps + SharePoint (retenu)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2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Fonctionne dans notre SharePoint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Oui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Non : aperçu bloqué, pas de page HTML autorisée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2"/>
                          </a:solidFill>
                        </a:rPr>
                        <a:t>Oui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Coût / licences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Aucun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Aucun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2"/>
                          </a:solidFill>
                        </a:rPr>
                        <a:t>Aucun (connecteurs standard)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Confidentialité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Faible (copies par courriel)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Bonne, mais dépôt par copier-coller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2"/>
                          </a:solidFill>
                        </a:rPr>
                        <a:t>Élevée (accès par dossier)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Suivi et courriels automatiques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Non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Oui (4 flux, complexes)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2"/>
                          </a:solidFill>
                        </a:rPr>
                        <a:t>Oui (3 flux)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Simplicité pour l'usager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Connue, mais lourde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Faible (étapes manuelles)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2"/>
                          </a:solidFill>
                        </a:rPr>
                        <a:t>Élevée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1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tx1"/>
                          </a:solidFill>
                        </a:rPr>
                        <a:t>Déploiement par les TI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tx1"/>
                          </a:solidFill>
                        </a:rPr>
                        <a:t>Hors processus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chemeClr val="accent2"/>
                          </a:solidFill>
                        </a:rPr>
                        <a:t>Solution gérée, processus TI standard</a:t>
                      </a:r>
                      <a:endParaRPr lang="en-US" sz="1100" dirty="0"/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6F1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Ce que le prototype nous a appris</a:t>
            </a:r>
            <a:endParaRPr lang="en-US" sz="2800" dirty="0"/>
          </a:p>
        </p:txBody>
      </p:sp>
      <p:sp>
        <p:nvSpPr>
          <p:cNvPr id="3" name="lecon0"/>
          <p:cNvSpPr/>
          <p:nvPr/>
        </p:nvSpPr>
        <p:spPr>
          <a:xfrm>
            <a:off x="502920" y="125272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2527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14300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Aperçu SharePoint restreint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147218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SharePoint exécute les pages HTML dans un mode protégé : sauvegarde locale et téléchargements bloqués.</a:t>
            </a:r>
            <a:endParaRPr lang="en-US" sz="1300" dirty="0"/>
          </a:p>
        </p:txBody>
      </p:sp>
      <p:sp>
        <p:nvSpPr>
          <p:cNvPr id="7" name="lecon1"/>
          <p:cNvSpPr/>
          <p:nvPr/>
        </p:nvSpPr>
        <p:spPr>
          <a:xfrm>
            <a:off x="502920" y="212140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502920" y="212140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097280" y="201168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Autorisations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097280" y="234086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La publication de pages HTML personnalisées n'est pas permise dans notre environnement.</a:t>
            </a:r>
            <a:endParaRPr lang="en-US" sz="1300" dirty="0"/>
          </a:p>
        </p:txBody>
      </p:sp>
      <p:sp>
        <p:nvSpPr>
          <p:cNvPr id="11" name="lecon2"/>
          <p:cNvSpPr/>
          <p:nvPr/>
        </p:nvSpPr>
        <p:spPr>
          <a:xfrm>
            <a:off x="502920" y="2990088"/>
            <a:ext cx="420624" cy="420624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02920" y="299008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097280" y="288036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Contournements fragiles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20954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 dépôt par copier-coller fonctionnait, mais demandait trop d'étapes manuelles aux usagers.</a:t>
            </a:r>
            <a:endParaRPr lang="en-US" sz="1300" dirty="0"/>
          </a:p>
        </p:txBody>
      </p:sp>
      <p:sp>
        <p:nvSpPr>
          <p:cNvPr id="15" name="lecon3"/>
          <p:cNvSpPr/>
          <p:nvPr/>
        </p:nvSpPr>
        <p:spPr>
          <a:xfrm>
            <a:off x="502920" y="3858768"/>
            <a:ext cx="420624" cy="420624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02920" y="38587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✓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097280" y="3749040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Décision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097280" y="4078224"/>
            <a:ext cx="7498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Passer à Power Apps : outil Microsoft prévu pour ce besoin, encadré par le processus des TI.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737360"/>
            <a:ext cx="8046720" cy="9144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3600" b="1" dirty="0">
                <a:solidFill>
                  <a:schemeClr val="bg1"/>
                </a:solidFill>
              </a:rPr>
              <a:t>La solution retenue</a:t>
            </a:r>
            <a:endParaRPr lang="en-US" sz="3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8046720" cy="73152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600" dirty="0">
                <a:solidFill>
                  <a:srgbClr val="D9DEE8"/>
                </a:solidFill>
              </a:rPr>
              <a:t>Power Apps, SharePoint et Power Automate — tout dans Microsoft 365 de la Ville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D9DEE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L'architecture en un coup d'œil</a:t>
            </a:r>
            <a:endParaRPr lang="en-US" sz="2800" dirty="0"/>
          </a:p>
        </p:txBody>
      </p:sp>
      <p:pic>
        <p:nvPicPr>
          <p:cNvPr id="3" name="schemaSolution" descr="Schéma : application Power Apps, listes SharePoint et 3 flux Power Automat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024128"/>
            <a:ext cx="7498080" cy="360929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Le circuit d'une appréciation</a:t>
            </a:r>
            <a:endParaRPr lang="en-US" sz="2800" dirty="0"/>
          </a:p>
        </p:txBody>
      </p:sp>
      <p:pic>
        <p:nvPicPr>
          <p:cNvPr id="3" name="schemaCircuit" descr="Circuit en 7 étapes, rôle par rôl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4440" y="1005840"/>
            <a:ext cx="6675120" cy="36588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Tests et validation : les chiffres</a:t>
            </a:r>
            <a:endParaRPr lang="en-US" sz="2800" dirty="0"/>
          </a:p>
        </p:txBody>
      </p:sp>
      <p:sp>
        <p:nvSpPr>
          <p:cNvPr id="3" name="stat0"/>
          <p:cNvSpPr/>
          <p:nvPr/>
        </p:nvSpPr>
        <p:spPr>
          <a:xfrm>
            <a:off x="457200" y="123444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3716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D98A"/>
                </a:solidFill>
              </a:rPr>
              <a:t>15</a:t>
            </a:r>
            <a:endParaRPr lang="en-US" sz="4400" dirty="0"/>
          </a:p>
        </p:txBody>
      </p:sp>
      <p:sp>
        <p:nvSpPr>
          <p:cNvPr id="5" name="Text 3"/>
          <p:cNvSpPr txBox="1"/>
          <p:nvPr/>
        </p:nvSpPr>
        <p:spPr>
          <a:xfrm>
            <a:off x="594360" y="21945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scénarios de test définis</a:t>
            </a:r>
            <a:endParaRPr lang="en-US" sz="1300" dirty="0"/>
          </a:p>
        </p:txBody>
      </p:sp>
      <p:sp>
        <p:nvSpPr>
          <p:cNvPr id="6" name="stat1"/>
          <p:cNvSpPr/>
          <p:nvPr/>
        </p:nvSpPr>
        <p:spPr>
          <a:xfrm>
            <a:off x="2542032" y="123444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42032" y="13716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D98A"/>
                </a:solidFill>
              </a:rPr>
              <a:t>23</a:t>
            </a:r>
            <a:endParaRPr lang="en-US" sz="4400" dirty="0"/>
          </a:p>
        </p:txBody>
      </p:sp>
      <p:sp>
        <p:nvSpPr>
          <p:cNvPr id="8" name="Text 6"/>
          <p:cNvSpPr txBox="1"/>
          <p:nvPr/>
        </p:nvSpPr>
        <p:spPr>
          <a:xfrm>
            <a:off x="2679192" y="21945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ajustements apportés au guide de construction</a:t>
            </a:r>
            <a:endParaRPr lang="en-US" sz="1300" dirty="0"/>
          </a:p>
        </p:txBody>
      </p:sp>
      <p:sp>
        <p:nvSpPr>
          <p:cNvPr id="9" name="stat2"/>
          <p:cNvSpPr/>
          <p:nvPr/>
        </p:nvSpPr>
        <p:spPr>
          <a:xfrm>
            <a:off x="4626864" y="123444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26864" y="13716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D98A"/>
                </a:solidFill>
              </a:rPr>
              <a:t>3</a:t>
            </a:r>
            <a:endParaRPr lang="en-US" sz="4400" dirty="0"/>
          </a:p>
        </p:txBody>
      </p:sp>
      <p:sp>
        <p:nvSpPr>
          <p:cNvPr id="11" name="Text 9"/>
          <p:cNvSpPr txBox="1"/>
          <p:nvPr/>
        </p:nvSpPr>
        <p:spPr>
          <a:xfrm>
            <a:off x="4764024" y="21945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flux automatisés validés</a:t>
            </a:r>
            <a:endParaRPr lang="en-US" sz="1300" dirty="0"/>
          </a:p>
        </p:txBody>
      </p:sp>
      <p:sp>
        <p:nvSpPr>
          <p:cNvPr id="12" name="stat3"/>
          <p:cNvSpPr/>
          <p:nvPr/>
        </p:nvSpPr>
        <p:spPr>
          <a:xfrm>
            <a:off x="6711696" y="1234440"/>
            <a:ext cx="1920240" cy="1737360"/>
          </a:xfrm>
          <a:prstGeom prst="roundRect">
            <a:avLst>
              <a:gd name="adj" fmla="val 421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11696" y="1371600"/>
            <a:ext cx="1920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FFD98A"/>
                </a:solidFill>
              </a:rPr>
              <a:t>4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6848856" y="2194560"/>
            <a:ext cx="1645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rôles testés (personne, SI, SH, directeur)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329184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</a:rPr>
              <a:t>Chaque problème rencontré a été documenté avec sa cause et sa solution, pour faciliter l'entretien futur.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Ce que les tests ont permis de corriger</a:t>
            </a:r>
            <a:endParaRPr lang="en-US" sz="2800" dirty="0"/>
          </a:p>
        </p:txBody>
      </p:sp>
      <p:sp>
        <p:nvSpPr>
          <p:cNvPr id="3" name="corr0"/>
          <p:cNvSpPr/>
          <p:nvPr/>
        </p:nvSpPr>
        <p:spPr>
          <a:xfrm>
            <a:off x="457200" y="1097280"/>
            <a:ext cx="82296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97280"/>
            <a:ext cx="128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Données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965960" y="1097280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Colonne « Type de rencontre » à choix multiples, index ajustés, sources de données renommées.</a:t>
            </a:r>
            <a:endParaRPr lang="en-US" sz="1300" dirty="0"/>
          </a:p>
        </p:txBody>
      </p:sp>
      <p:sp>
        <p:nvSpPr>
          <p:cNvPr id="6" name="corr1"/>
          <p:cNvSpPr/>
          <p:nvPr/>
        </p:nvSpPr>
        <p:spPr>
          <a:xfrm>
            <a:off x="457200" y="1810512"/>
            <a:ext cx="822960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0080" y="1810512"/>
            <a:ext cx="128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Formules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965960" y="1810512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Lecture des dossiers enregistrés, cases à cocher, synthèse des cotes, mise en page.</a:t>
            </a:r>
            <a:endParaRPr lang="en-US" sz="1300" dirty="0"/>
          </a:p>
        </p:txBody>
      </p:sp>
      <p:sp>
        <p:nvSpPr>
          <p:cNvPr id="9" name="corr2"/>
          <p:cNvSpPr/>
          <p:nvPr/>
        </p:nvSpPr>
        <p:spPr>
          <a:xfrm>
            <a:off x="457200" y="2523744"/>
            <a:ext cx="82296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080" y="2523744"/>
            <a:ext cx="128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Flux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965960" y="2523744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Noms des variables d'environnement, ordre des étapes, tolérance aux cas normaux.</a:t>
            </a:r>
            <a:endParaRPr lang="en-US" sz="1300" dirty="0"/>
          </a:p>
        </p:txBody>
      </p:sp>
      <p:sp>
        <p:nvSpPr>
          <p:cNvPr id="12" name="corr3"/>
          <p:cNvSpPr/>
          <p:nvPr/>
        </p:nvSpPr>
        <p:spPr>
          <a:xfrm>
            <a:off x="457200" y="3236976"/>
            <a:ext cx="8229600" cy="603504"/>
          </a:xfrm>
          <a:prstGeom prst="roundRect">
            <a:avLst>
              <a:gd name="adj" fmla="val 1212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236976"/>
            <a:ext cx="128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Accès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965960" y="323697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Autorisations de la liste resserrées : chaque dossier n'est visible que par ses personnes et les RH.</a:t>
            </a:r>
            <a:endParaRPr lang="en-US" sz="1300" dirty="0"/>
          </a:p>
        </p:txBody>
      </p:sp>
      <p:sp>
        <p:nvSpPr>
          <p:cNvPr id="15" name="corr4"/>
          <p:cNvSpPr/>
          <p:nvPr/>
        </p:nvSpPr>
        <p:spPr>
          <a:xfrm>
            <a:off x="457200" y="3950208"/>
            <a:ext cx="8229600" cy="603504"/>
          </a:xfrm>
          <a:prstGeom prst="roundRect">
            <a:avLst>
              <a:gd name="adj" fmla="val 1212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0080" y="3950208"/>
            <a:ext cx="12801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PDF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965960" y="3950208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PDF complet joint au dossier (une seule version, mêmes accès) ; écran allégé.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Confidentialité : vérifiée dossier par dossier</a:t>
            </a:r>
            <a:endParaRPr lang="en-US" sz="2800" dirty="0"/>
          </a:p>
        </p:txBody>
      </p:sp>
      <p:sp>
        <p:nvSpPr>
          <p:cNvPr id="3" name="securite"/>
          <p:cNvSpPr/>
          <p:nvPr/>
        </p:nvSpPr>
        <p:spPr>
          <a:xfrm>
            <a:off x="457200" y="1097280"/>
            <a:ext cx="4846320" cy="3474720"/>
          </a:xfrm>
          <a:prstGeom prst="roundRect">
            <a:avLst>
              <a:gd name="adj" fmla="val 2105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280160"/>
            <a:ext cx="443484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Chaque dossier est automatiquement réservé à la personne, à ses supérieurs, au directeur si requis et aux RH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Un collègue ne voit jamais le dossier d'un autre (testé)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Les courriels ne contiennent aucune évaluation, seulement un lien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À la fin, le dossier passe en lecture seule pour tous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Le PDF est joint au dossier, avec les mêmes accès</a:t>
            </a:r>
            <a:endParaRPr lang="en-US" sz="1400" dirty="0"/>
          </a:p>
        </p:txBody>
      </p:sp>
      <p:sp>
        <p:nvSpPr>
          <p:cNvPr id="5" name="aFaire"/>
          <p:cNvSpPr/>
          <p:nvPr/>
        </p:nvSpPr>
        <p:spPr>
          <a:xfrm>
            <a:off x="5532120" y="1097280"/>
            <a:ext cx="3154680" cy="3474720"/>
          </a:xfrm>
          <a:prstGeom prst="roundRect">
            <a:avLst>
              <a:gd name="adj" fmla="val 2319"/>
            </a:avLst>
          </a:prstGeom>
          <a:solidFill>
            <a:srgbClr val="FBF6EA"/>
          </a:solidFill>
          <a:ln w="12700">
            <a:solidFill>
              <a:srgbClr val="FBF6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715000" y="123444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À compléter avant la Prod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5715000" y="1691640"/>
            <a:ext cx="283464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Évaluation des facteurs relatifs à la vie privée (EFVP)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Délai de conservation (gestion documentaire)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Compte de service et personne suppléante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Pourquoi l'application plutôt que le Word</a:t>
            </a:r>
            <a:endParaRPr lang="en-US" sz="2800" dirty="0"/>
          </a:p>
        </p:txBody>
      </p:sp>
      <p:pic>
        <p:nvPicPr>
          <p:cNvPr id="3" name="avantages" descr="Comparaison avant (Word) et maintenant (application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51560"/>
            <a:ext cx="8229600" cy="3358706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Ce qui est livré</a:t>
            </a:r>
            <a:endParaRPr lang="en-US" sz="2800" dirty="0"/>
          </a:p>
        </p:txBody>
      </p:sp>
      <p:sp>
        <p:nvSpPr>
          <p:cNvPr id="3" name="livrable0"/>
          <p:cNvSpPr/>
          <p:nvPr/>
        </p:nvSpPr>
        <p:spPr>
          <a:xfrm>
            <a:off x="457200" y="114300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280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Application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9164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Formulaire complet, 3 types de poste, barre d'étapes, PDF joint au dossier</a:t>
            </a:r>
            <a:endParaRPr lang="en-US" sz="1300" dirty="0"/>
          </a:p>
        </p:txBody>
      </p:sp>
      <p:sp>
        <p:nvSpPr>
          <p:cNvPr id="6" name="livrable1"/>
          <p:cNvSpPr/>
          <p:nvPr/>
        </p:nvSpPr>
        <p:spPr>
          <a:xfrm>
            <a:off x="3246120" y="114300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429000" y="1280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Automatisation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429000" y="169164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3 flux : accès, suivi et courriels, production du PDF</a:t>
            </a:r>
            <a:endParaRPr lang="en-US" sz="1300" dirty="0"/>
          </a:p>
        </p:txBody>
      </p:sp>
      <p:sp>
        <p:nvSpPr>
          <p:cNvPr id="9" name="livrable2"/>
          <p:cNvSpPr/>
          <p:nvPr/>
        </p:nvSpPr>
        <p:spPr>
          <a:xfrm>
            <a:off x="6035040" y="114300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217920" y="128016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Documentation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217920" y="169164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Guide de mise en production, formules et flux de référence, dossier TI</a:t>
            </a:r>
            <a:endParaRPr lang="en-US" sz="1300" dirty="0"/>
          </a:p>
        </p:txBody>
      </p:sp>
      <p:sp>
        <p:nvSpPr>
          <p:cNvPr id="12" name="livrable3"/>
          <p:cNvSpPr/>
          <p:nvPr/>
        </p:nvSpPr>
        <p:spPr>
          <a:xfrm>
            <a:off x="457200" y="29260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0080" y="30632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Déploiement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34747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Fichier des variables d'environnement, liste de vérification des TI</a:t>
            </a:r>
            <a:endParaRPr lang="en-US" sz="1300" dirty="0"/>
          </a:p>
        </p:txBody>
      </p:sp>
      <p:sp>
        <p:nvSpPr>
          <p:cNvPr id="15" name="livrable4"/>
          <p:cNvSpPr/>
          <p:nvPr/>
        </p:nvSpPr>
        <p:spPr>
          <a:xfrm>
            <a:off x="3246120" y="2926080"/>
            <a:ext cx="26060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3429000" y="3063240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3"/>
                </a:solidFill>
              </a:rPr>
              <a:t>Communication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429000" y="3474720"/>
            <a:ext cx="2240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Guide d'utilisation, message d'annonce, schémas opérationnels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</a:rPr>
              <a:t>Prochaines étapes et décisions demandées</a:t>
            </a:r>
            <a:endParaRPr lang="en-US" sz="2800" dirty="0"/>
          </a:p>
        </p:txBody>
      </p:sp>
      <p:sp>
        <p:nvSpPr>
          <p:cNvPr id="3" name="suite0"/>
          <p:cNvSpPr/>
          <p:nvPr/>
        </p:nvSpPr>
        <p:spPr>
          <a:xfrm>
            <a:off x="502920" y="1179576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02920" y="117957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1143000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Demande de mise en PréProd aux TI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formulaire, solution gérée et fichier des variables</a:t>
            </a:r>
            <a:endParaRPr lang="en-US" sz="1400" dirty="0"/>
          </a:p>
        </p:txBody>
      </p:sp>
      <p:sp>
        <p:nvSpPr>
          <p:cNvPr id="6" name="suite1"/>
          <p:cNvSpPr/>
          <p:nvPr/>
        </p:nvSpPr>
        <p:spPr>
          <a:xfrm>
            <a:off x="502920" y="1837944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02920" y="183794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2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097280" y="1801368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Tests en PréProd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avec 4 comptes, procès-verbal</a:t>
            </a:r>
            <a:endParaRPr lang="en-US" sz="1400" dirty="0"/>
          </a:p>
        </p:txBody>
      </p:sp>
      <p:sp>
        <p:nvSpPr>
          <p:cNvPr id="9" name="suite2"/>
          <p:cNvSpPr/>
          <p:nvPr/>
        </p:nvSpPr>
        <p:spPr>
          <a:xfrm>
            <a:off x="502920" y="2496312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02920" y="249631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3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097280" y="2459736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EFVP et conservation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responsable PRP et gestion documentaire</a:t>
            </a:r>
            <a:endParaRPr lang="en-US" sz="1400" dirty="0"/>
          </a:p>
        </p:txBody>
      </p:sp>
      <p:sp>
        <p:nvSpPr>
          <p:cNvPr id="12" name="suite3"/>
          <p:cNvSpPr/>
          <p:nvPr/>
        </p:nvSpPr>
        <p:spPr>
          <a:xfrm>
            <a:off x="502920" y="3154680"/>
            <a:ext cx="420624" cy="420624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02920" y="31546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4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097280" y="3118104"/>
            <a:ext cx="4572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Mise en production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 — puis annonce et courte démonstration aux gestionnaires</a:t>
            </a:r>
            <a:endParaRPr lang="en-US" sz="1400" dirty="0"/>
          </a:p>
        </p:txBody>
      </p:sp>
      <p:sp>
        <p:nvSpPr>
          <p:cNvPr id="15" name="decisions"/>
          <p:cNvSpPr/>
          <p:nvPr/>
        </p:nvSpPr>
        <p:spPr>
          <a:xfrm>
            <a:off x="5897880" y="1097280"/>
            <a:ext cx="2788920" cy="2743200"/>
          </a:xfrm>
          <a:prstGeom prst="roundRect">
            <a:avLst>
              <a:gd name="adj" fmla="val 2667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080760" y="1234440"/>
            <a:ext cx="2468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D98A"/>
                </a:solidFill>
              </a:rPr>
              <a:t>Nous demandons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6080760" y="1691640"/>
            <a:ext cx="246888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Votre appui pour la mise en production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Une date cible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Une personne suppléante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bg1"/>
                </a:solidFill>
              </a:rPr>
              <a:t>Des testeurs gestionnaires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73168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accent6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8046720" cy="137160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3800" b="1" dirty="0">
                <a:solidFill>
                  <a:schemeClr val="bg1"/>
                </a:solidFill>
              </a:rPr>
              <a:t>Merci — questions et démonstration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880360"/>
            <a:ext cx="80467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EE8"/>
                </a:solidFill>
              </a:rPr>
              <a:t>Annie Audet, Ressources humaines (RH-SST)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D9DEE8"/>
                </a:solidFill>
              </a:rPr>
              <a:t>Appuis : documentation Microsoft Power Platform et équipe des TI (processus de mise en production)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Ville RH">
  <a:themeElements>
    <a:clrScheme name="Ville RH">
      <a:dk1>
        <a:srgbClr val="1F2937"/>
      </a:dk1>
      <a:lt1>
        <a:srgbClr val="FFFFFF"/>
      </a:lt1>
      <a:dk2>
        <a:srgbClr val="00285E"/>
      </a:dk2>
      <a:lt2>
        <a:srgbClr val="F3F5F9"/>
      </a:lt2>
      <a:accent1>
        <a:srgbClr val="857650"/>
      </a:accent1>
      <a:accent2>
        <a:srgbClr val="009E49"/>
      </a:accent2>
      <a:accent3>
        <a:srgbClr val="074B98"/>
      </a:accent3>
      <a:accent4>
        <a:srgbClr val="6B3FA0"/>
      </a:accent4>
      <a:accent5>
        <a:srgbClr val="B91C1C"/>
      </a:accent5>
      <a:accent6>
        <a:srgbClr val="6B7280"/>
      </a:accent6>
      <a:hlink>
        <a:srgbClr val="074B98"/>
      </a:hlink>
      <a:folHlink>
        <a:srgbClr val="6B3FA0"/>
      </a:folHlink>
    </a:clrScheme>
    <a:fontScheme name="Ville RH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Appréciation de la contribution — du Word à l'application</dc:title>
  <dc:subject>PptxGenJS Presentation</dc:subject>
  <dc:creator>Annie Audet</dc:creator>
  <cp:lastModifiedBy>Annie Audet</cp:lastModifiedBy>
  <cp:revision>1</cp:revision>
  <dcterms:created xsi:type="dcterms:W3CDTF">2026-10-28T17:13:35Z</dcterms:created>
  <dcterms:modified xsi:type="dcterms:W3CDTF">2026-10-28T17:13:35Z</dcterms:modified>
</cp:coreProperties>
</file>