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3a63558-b9e3-78f1-3f5c-a45705f97831}">
          <p14:sldIdLst>
            <p14:sldId id="256"/>
            <p14:sldId id="257"/>
          </p14:sldIdLst>
        </p14:section>
        <p14:section name="Point de départ" id="{d547e533-16b1-080a-8170-89885127ffae}">
          <p14:sldIdLst>
            <p14:sldId id="258"/>
            <p14:sldId id="259"/>
          </p14:sldIdLst>
        </p14:section>
        <p14:section name="Démarche" id="{c6d5dd76-0d7a-8210-7722-cf3ae948b836}">
          <p14:sldIdLst>
            <p14:sldId id="260"/>
            <p14:sldId id="261"/>
            <p14:sldId id="262"/>
            <p14:sldId id="263"/>
          </p14:sldIdLst>
        </p14:section>
        <p14:section name="Solution" id="{5ddfad7d-ad47-095e-e28b-af4c83e7b52d}">
          <p14:sldIdLst>
            <p14:sldId id="264"/>
            <p14:sldId id="265"/>
            <p14:sldId id="266"/>
          </p14:sldIdLst>
        </p14:section>
        <p14:section name="Tests" id="{8885b542-d0d8-d1b4-c6f0-b8f504635bf6}">
          <p14:sldIdLst>
            <p14:sldId id="267"/>
            <p14:sldId id="268"/>
            <p14:sldId id="269"/>
          </p14:sldIdLst>
        </p14:section>
        <p14:section name="Résultat" id="{6ff8054a-5b36-52a4-7ea9-0765f3e2d5ea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l'objectif de la rencontre : faire le point sur la démarche, montrer le résultat et obtenir l'appui pour la mise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Nouveaux formulaires du 15 octobre 2026 : cadre avec équipe, cadre sans équipe, professionnel non syndiqué. Le contenu ne change pas, c'est la façon de le remplir et de le faire circuler qui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n'a pas été du temps perdu : il a servi à valider le contenu des formulaires, les règles d'accès par rôle et le circuit d'approbation, qui ont été repris tels quels dans Power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9DEE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9DEE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Appréciation de la contribution · Ressources humaines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Appréciation de la contribution : du formulaire Word à l'application numérique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Démarche, options évaluées, tests et résultat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Présenté par Annie Audet, conseillère en ressources humaines (RH-SST) — octobre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bref : où en sommes-nous</a:t>
            </a:r>
            <a:endParaRPr lang="en-US" sz="2800" dirty="0"/>
          </a:p>
        </p:txBody>
      </p:sp>
      <p:sp>
        <p:nvSpPr>
          <p:cNvPr id="3" name="bref0"/>
          <p:cNvSpPr/>
          <p:nvPr/>
        </p:nvSpPr>
        <p:spPr>
          <a:xfrm>
            <a:off x="457200" y="118872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0"/>
          <p:cNvSpPr/>
          <p:nvPr/>
        </p:nvSpPr>
        <p:spPr>
          <a:xfrm>
            <a:off x="685800" y="145389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53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besoin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1848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Remplacer les formulaires Word d'appréciation par un outil numérique sécurisé, avec circuit d'approbation.</a:t>
            </a:r>
            <a:endParaRPr lang="en-US" sz="1400" dirty="0"/>
          </a:p>
        </p:txBody>
      </p:sp>
      <p:sp>
        <p:nvSpPr>
          <p:cNvPr id="8" name="bref1"/>
          <p:cNvSpPr/>
          <p:nvPr/>
        </p:nvSpPr>
        <p:spPr>
          <a:xfrm>
            <a:off x="457200" y="2304288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stille1"/>
          <p:cNvSpPr/>
          <p:nvPr/>
        </p:nvSpPr>
        <p:spPr>
          <a:xfrm>
            <a:off x="685800" y="256946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569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41401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démarche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73405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Deux approches construites et testées ; l'approche Power Apps a été retenue parce qu'elle est compatible avec notre SharePoint.</a:t>
            </a:r>
            <a:endParaRPr lang="en-US" sz="1400" dirty="0"/>
          </a:p>
        </p:txBody>
      </p:sp>
      <p:sp>
        <p:nvSpPr>
          <p:cNvPr id="13" name="bref2"/>
          <p:cNvSpPr/>
          <p:nvPr/>
        </p:nvSpPr>
        <p:spPr>
          <a:xfrm>
            <a:off x="457200" y="3419856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stille2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685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52958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résultat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84962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Application fonctionnelle et testée dans le bac à sable, documentée et prête pour la demande de mise en PréProd.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point de départ : un processus papier-courriel</a:t>
            </a:r>
            <a:endParaRPr lang="en-US" sz="2800" dirty="0"/>
          </a:p>
        </p:txBody>
      </p:sp>
      <p:sp>
        <p:nvSpPr>
          <p:cNvPr id="3" name="irritant0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Versions multiples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556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fichier Word circule par courriel ; on perd la bonne version.</a:t>
            </a:r>
            <a:endParaRPr lang="en-US" sz="1400" dirty="0"/>
          </a:p>
        </p:txBody>
      </p:sp>
      <p:sp>
        <p:nvSpPr>
          <p:cNvPr id="6" name="irritant1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Confidentialité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556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 copies d'évaluations restent dans les boîtes courriel et les ordinateurs.</a:t>
            </a:r>
            <a:endParaRPr lang="en-US" sz="1400" dirty="0"/>
          </a:p>
        </p:txBody>
      </p:sp>
      <p:sp>
        <p:nvSpPr>
          <p:cNvPr id="9" name="irritant2"/>
          <p:cNvSpPr/>
          <p:nvPr/>
        </p:nvSpPr>
        <p:spPr>
          <a:xfrm>
            <a:off x="457200" y="27889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53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Suivi difficile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558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Impossible de savoir où en est une appréciation sans relancer.</a:t>
            </a:r>
            <a:endParaRPr lang="en-US" sz="1400" dirty="0"/>
          </a:p>
        </p:txBody>
      </p:sp>
      <p:sp>
        <p:nvSpPr>
          <p:cNvPr id="12" name="irritant3"/>
          <p:cNvSpPr/>
          <p:nvPr/>
        </p:nvSpPr>
        <p:spPr>
          <a:xfrm>
            <a:off x="4663440" y="27889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953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Travail manuel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558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Signatures, moyennes, synthèse et transmission à la paie faites à la main.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Nos objectifs et nos contraintes</a:t>
            </a:r>
            <a:endParaRPr lang="en-US" sz="2800" dirty="0"/>
          </a:p>
        </p:txBody>
      </p:sp>
      <p:sp>
        <p:nvSpPr>
          <p:cNvPr id="3" name="objectifs"/>
          <p:cNvSpPr/>
          <p:nvPr/>
        </p:nvSpPr>
        <p:spPr>
          <a:xfrm>
            <a:off x="45720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Objectifs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Intégrer les 3 formulaires du 15 octobre 2026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Circuit : personne, supérieur immédiat, hiérarchique, directeur au besoin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Courriels de suivi automatiques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Transmission de l'évaluation globale à la paie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PDF de l'appréciation complète</a:t>
            </a:r>
            <a:endParaRPr lang="en-US" sz="1400" dirty="0"/>
          </a:p>
        </p:txBody>
      </p:sp>
      <p:sp>
        <p:nvSpPr>
          <p:cNvPr id="6" name="contraintes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Contraintes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Gratuit : aucune licence Premium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Uniquement les outils Microsoft 365 de la Ville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Accès limité aux seules personnes concernées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Simple à utiliser, sans formation lourde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Conforme au processus de mise en production des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démarche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D9DEE8"/>
                </a:solidFill>
              </a:rPr>
              <a:t>Ce que nous avons construit, testé et pourquoi nous avons changé de cap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Les grandes étapes du projet</a:t>
            </a:r>
            <a:endParaRPr lang="en-US" sz="2800" dirty="0"/>
          </a:p>
        </p:txBody>
      </p:sp>
      <p:sp>
        <p:nvSpPr>
          <p:cNvPr id="3" name="ligneTemps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" name="etape0"/>
          <p:cNvSpPr/>
          <p:nvPr/>
        </p:nvSpPr>
        <p:spPr>
          <a:xfrm>
            <a:off x="786384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Formulaires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Mise à jour des 3 formulaires (15 oct.)</a:t>
            </a:r>
            <a:endParaRPr lang="en-US" sz="1100" dirty="0"/>
          </a:p>
        </p:txBody>
      </p:sp>
      <p:sp>
        <p:nvSpPr>
          <p:cNvPr id="8" name="etape1"/>
          <p:cNvSpPr/>
          <p:nvPr/>
        </p:nvSpPr>
        <p:spPr>
          <a:xfrm>
            <a:off x="1965960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65960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636776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Prototype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36776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Application web HTML + listes SharePoint</a:t>
            </a:r>
            <a:endParaRPr lang="en-US" sz="1100" dirty="0"/>
          </a:p>
        </p:txBody>
      </p:sp>
      <p:sp>
        <p:nvSpPr>
          <p:cNvPr id="12" name="etape2"/>
          <p:cNvSpPr/>
          <p:nvPr/>
        </p:nvSpPr>
        <p:spPr>
          <a:xfrm>
            <a:off x="3145536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45536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Tests SharePoint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16352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Blocages découverts dans notre SharePoint</a:t>
            </a:r>
            <a:endParaRPr lang="en-US" sz="1100" dirty="0"/>
          </a:p>
        </p:txBody>
      </p:sp>
      <p:sp>
        <p:nvSpPr>
          <p:cNvPr id="16" name="etape3"/>
          <p:cNvSpPr/>
          <p:nvPr/>
        </p:nvSpPr>
        <p:spPr>
          <a:xfrm>
            <a:off x="4325112" y="18013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95928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Réorientation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Choix de Power Apps (outil Microsoft)</a:t>
            </a:r>
            <a:endParaRPr lang="en-US" sz="1100" dirty="0"/>
          </a:p>
        </p:txBody>
      </p:sp>
      <p:sp>
        <p:nvSpPr>
          <p:cNvPr id="20" name="etape4"/>
          <p:cNvSpPr/>
          <p:nvPr/>
        </p:nvSpPr>
        <p:spPr>
          <a:xfrm>
            <a:off x="5504688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04688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75504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Construction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Application, 3 flux, 5 variables</a:t>
            </a:r>
            <a:endParaRPr lang="en-US" sz="1100" dirty="0"/>
          </a:p>
        </p:txBody>
      </p:sp>
      <p:sp>
        <p:nvSpPr>
          <p:cNvPr id="24" name="etape5"/>
          <p:cNvSpPr/>
          <p:nvPr/>
        </p:nvSpPr>
        <p:spPr>
          <a:xfrm>
            <a:off x="6684264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84264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Tests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Corrections et validation complète</a:t>
            </a:r>
            <a:endParaRPr lang="en-US" sz="1100" dirty="0"/>
          </a:p>
        </p:txBody>
      </p:sp>
      <p:sp>
        <p:nvSpPr>
          <p:cNvPr id="28" name="etape6"/>
          <p:cNvSpPr/>
          <p:nvPr/>
        </p:nvSpPr>
        <p:spPr>
          <a:xfrm>
            <a:off x="7863840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63840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534656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Mise en prod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534656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Documentation, dossier TI, communication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Étape 4 : le changement de cap, appuyé par les résultats des tests du prototype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Les options évaluées</a:t>
            </a:r>
            <a:endParaRPr lang="en-US" sz="2800" dirty="0"/>
          </a:p>
        </p:txBody>
      </p:sp>
      <p:graphicFrame>
        <p:nvGraphicFramePr>
          <p:cNvPr id="8" name="tableauOp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Critère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Formulaire Word (actuel)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Prototype HTML + SharePoint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Power Apps + SharePoint (retenu)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Fonctionne dans notre SharePoint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Non : aperçu bloqué, pas de page HTML autorisée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Oui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Coût / licences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Aucun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Aucun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Aucun (connecteurs standard)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Confidentialité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Faible (copies par courriel)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Bonne, mais dépôt par copier-coller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Élevée (accès par dossier)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Suivi et courriels automatiques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Oui (4 flux, complexes)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Oui (3 flux)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Simplicité pour l'usager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Connue, mais lourde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Faible (étapes manuelles)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Élevée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Déploiement par les TI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Hors processus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Solution gérée, processus TI standard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le prototype nous a appris</a:t>
            </a:r>
            <a:endParaRPr lang="en-US" sz="2800" dirty="0"/>
          </a:p>
        </p:txBody>
      </p:sp>
      <p:sp>
        <p:nvSpPr>
          <p:cNvPr id="3" name="lecon0"/>
          <p:cNvSpPr/>
          <p:nvPr/>
        </p:nvSpPr>
        <p:spPr>
          <a:xfrm>
            <a:off x="502920" y="12527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52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Aperçu SharePoint restreint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721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SharePoint exécute les pages HTML dans un mode protégé : sauvegarde locale et téléchargements bloqués.</a:t>
            </a:r>
            <a:endParaRPr lang="en-US" sz="1300" dirty="0"/>
          </a:p>
        </p:txBody>
      </p:sp>
      <p:sp>
        <p:nvSpPr>
          <p:cNvPr id="7" name="lecon1"/>
          <p:cNvSpPr/>
          <p:nvPr/>
        </p:nvSpPr>
        <p:spPr>
          <a:xfrm>
            <a:off x="502920" y="21214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116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Autorisations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34086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publication de pages HTML personnalisées n'est pas permise dans notre environnement.</a:t>
            </a:r>
            <a:endParaRPr lang="en-US" sz="1300" dirty="0"/>
          </a:p>
        </p:txBody>
      </p:sp>
      <p:sp>
        <p:nvSpPr>
          <p:cNvPr id="11" name="lecon2"/>
          <p:cNvSpPr/>
          <p:nvPr/>
        </p:nvSpPr>
        <p:spPr>
          <a:xfrm>
            <a:off x="502920" y="29900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80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Contournements fragiles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20954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 dépôt par copier-coller fonctionnait, mais demandait trop d'étapes manuelles aux usagers.</a:t>
            </a:r>
            <a:endParaRPr lang="en-US" sz="1300" dirty="0"/>
          </a:p>
        </p:txBody>
      </p:sp>
      <p:sp>
        <p:nvSpPr>
          <p:cNvPr id="15" name="lecon3"/>
          <p:cNvSpPr/>
          <p:nvPr/>
        </p:nvSpPr>
        <p:spPr>
          <a:xfrm>
            <a:off x="502920" y="38587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749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Décision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7822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 à Power Apps : outil Microsoft prévu pour ce besoin, encadré par le processus des TI.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solution retenue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D9DEE8"/>
                </a:solidFill>
              </a:rPr>
              <a:t>Power Apps, SharePoint et Power Automate — tout dans Microsoft 365 de la Ville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L'architecture en un coup d'œil</a:t>
            </a:r>
            <a:endParaRPr lang="en-US" sz="2800" dirty="0"/>
          </a:p>
        </p:txBody>
      </p:sp>
      <p:pic>
        <p:nvPicPr>
          <p:cNvPr id="3" name="schemaSolution" descr="Schéma : application Power Apps, listes SharePoint et 3 flux Power Autom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24128"/>
            <a:ext cx="7498080" cy="36092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circuit d'une appréciation</a:t>
            </a:r>
            <a:endParaRPr lang="en-US" sz="2800" dirty="0"/>
          </a:p>
        </p:txBody>
      </p:sp>
      <p:pic>
        <p:nvPicPr>
          <p:cNvPr id="3" name="schemaCircuit" descr="Circuit en 7 étapes, rôle par r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005840"/>
            <a:ext cx="6675120" cy="365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Tests et validation : les chiffres</a:t>
            </a:r>
            <a:endParaRPr lang="en-US" sz="2800" dirty="0"/>
          </a:p>
        </p:txBody>
      </p:sp>
      <p:sp>
        <p:nvSpPr>
          <p:cNvPr id="3" name="stat0"/>
          <p:cNvSpPr/>
          <p:nvPr/>
        </p:nvSpPr>
        <p:spPr>
          <a:xfrm>
            <a:off x="457200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15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scénarios de test définis</a:t>
            </a:r>
            <a:endParaRPr lang="en-US" sz="1300" dirty="0"/>
          </a:p>
        </p:txBody>
      </p:sp>
      <p:sp>
        <p:nvSpPr>
          <p:cNvPr id="6" name="stat1"/>
          <p:cNvSpPr/>
          <p:nvPr/>
        </p:nvSpPr>
        <p:spPr>
          <a:xfrm>
            <a:off x="2542032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42032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17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ajustements apportés au guide de construction</a:t>
            </a:r>
            <a:endParaRPr lang="en-US" sz="1300" dirty="0"/>
          </a:p>
        </p:txBody>
      </p:sp>
      <p:sp>
        <p:nvSpPr>
          <p:cNvPr id="9" name="stat2"/>
          <p:cNvSpPr/>
          <p:nvPr/>
        </p:nvSpPr>
        <p:spPr>
          <a:xfrm>
            <a:off x="4626864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flux automatisés validés</a:t>
            </a:r>
            <a:endParaRPr lang="en-US" sz="1300" dirty="0"/>
          </a:p>
        </p:txBody>
      </p:sp>
      <p:sp>
        <p:nvSpPr>
          <p:cNvPr id="12" name="stat3"/>
          <p:cNvSpPr/>
          <p:nvPr/>
        </p:nvSpPr>
        <p:spPr>
          <a:xfrm>
            <a:off x="6711696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4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rôles testés (personne, SI, SH, directeur)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problème rencontré a été documenté avec sa cause et sa solution, pour faciliter l'entretien futur.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les tests ont permis de corriger</a:t>
            </a:r>
            <a:endParaRPr lang="en-US" sz="2800" dirty="0"/>
          </a:p>
        </p:txBody>
      </p:sp>
      <p:sp>
        <p:nvSpPr>
          <p:cNvPr id="3" name="corr0"/>
          <p:cNvSpPr/>
          <p:nvPr/>
        </p:nvSpPr>
        <p:spPr>
          <a:xfrm>
            <a:off x="457200" y="1097280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Données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Colonne « Type de rencontre » à choix multiples, index ajustés, sources de données renommées.</a:t>
            </a:r>
            <a:endParaRPr lang="en-US" sz="1300" dirty="0"/>
          </a:p>
        </p:txBody>
      </p:sp>
      <p:sp>
        <p:nvSpPr>
          <p:cNvPr id="6" name="corr1"/>
          <p:cNvSpPr/>
          <p:nvPr/>
        </p:nvSpPr>
        <p:spPr>
          <a:xfrm>
            <a:off x="457200" y="1810512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10512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Formules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81051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Lecture des dossiers enregistrés, cases à cocher, synthèse des cotes, mise en page.</a:t>
            </a:r>
            <a:endParaRPr lang="en-US" sz="1300" dirty="0"/>
          </a:p>
        </p:txBody>
      </p:sp>
      <p:sp>
        <p:nvSpPr>
          <p:cNvPr id="9" name="corr2"/>
          <p:cNvSpPr/>
          <p:nvPr/>
        </p:nvSpPr>
        <p:spPr>
          <a:xfrm>
            <a:off x="457200" y="2523744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2374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Flux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52374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Noms des variables d'environnement, ordre des étapes, tolérance aux cas normaux.</a:t>
            </a:r>
            <a:endParaRPr lang="en-US" sz="1300" dirty="0"/>
          </a:p>
        </p:txBody>
      </p:sp>
      <p:sp>
        <p:nvSpPr>
          <p:cNvPr id="12" name="corr3"/>
          <p:cNvSpPr/>
          <p:nvPr/>
        </p:nvSpPr>
        <p:spPr>
          <a:xfrm>
            <a:off x="457200" y="3236976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3697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Accès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323697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Autorisations de la liste resserrées : chaque dossier n'est visible que par ses personnes et les RH.</a:t>
            </a:r>
            <a:endParaRPr lang="en-US" sz="1300" dirty="0"/>
          </a:p>
        </p:txBody>
      </p:sp>
      <p:sp>
        <p:nvSpPr>
          <p:cNvPr id="15" name="corr4"/>
          <p:cNvSpPr/>
          <p:nvPr/>
        </p:nvSpPr>
        <p:spPr>
          <a:xfrm>
            <a:off x="457200" y="3950208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950208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PDF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395020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Nouveau flux : PDF complet de plusieurs pages, déposé dans une bibliothèque protégée.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Confidentialité : vérifiée dossier par dossier</a:t>
            </a:r>
            <a:endParaRPr lang="en-US" sz="2800" dirty="0"/>
          </a:p>
        </p:txBody>
      </p:sp>
      <p:sp>
        <p:nvSpPr>
          <p:cNvPr id="3" name="securite"/>
          <p:cNvSpPr/>
          <p:nvPr/>
        </p:nvSpPr>
        <p:spPr>
          <a:xfrm>
            <a:off x="457200" y="1097280"/>
            <a:ext cx="484632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434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Chaque dossier est automatiquement réservé à la personne, à ses supérieurs, au directeur si requis et aux RH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collègue ne voit jamais le dossier d'un autre (testé)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courriels ne contiennent aucune évaluation, seulement un lien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À la fin, le dossier passe en lecture seule pour tous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PDF sont rangés dans une bibliothèque fermée</a:t>
            </a:r>
            <a:endParaRPr lang="en-US" sz="1400" dirty="0"/>
          </a:p>
        </p:txBody>
      </p:sp>
      <p:sp>
        <p:nvSpPr>
          <p:cNvPr id="5" name="aFaire"/>
          <p:cNvSpPr/>
          <p:nvPr/>
        </p:nvSpPr>
        <p:spPr>
          <a:xfrm>
            <a:off x="5532120" y="1097280"/>
            <a:ext cx="3154680" cy="3474720"/>
          </a:xfrm>
          <a:prstGeom prst="roundRect">
            <a:avLst>
              <a:gd name="adj" fmla="val 2319"/>
            </a:avLst>
          </a:prstGeom>
          <a:solidFill>
            <a:srgbClr val="FBF6EA"/>
          </a:solidFill>
          <a:ln w="12700">
            <a:solidFill>
              <a:srgbClr val="FBF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1500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À compléter avant la Prod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691640"/>
            <a:ext cx="28346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Évaluation des facteurs relatifs à la vie privée (EFVP)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Délai de conservation (gestion documentaire)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Compte de service et personne suppléante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Pourquoi l'application plutôt que le Word</a:t>
            </a:r>
            <a:endParaRPr lang="en-US" sz="2800" dirty="0"/>
          </a:p>
        </p:txBody>
      </p:sp>
      <p:pic>
        <p:nvPicPr>
          <p:cNvPr id="3" name="avantages" descr="Comparaison avant (Word) et maintenant (applicatio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35870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qui est livré</a:t>
            </a:r>
            <a:endParaRPr lang="en-US" sz="2800" dirty="0"/>
          </a:p>
        </p:txBody>
      </p:sp>
      <p:sp>
        <p:nvSpPr>
          <p:cNvPr id="3" name="livrable0"/>
          <p:cNvSpPr/>
          <p:nvPr/>
        </p:nvSpPr>
        <p:spPr>
          <a:xfrm>
            <a:off x="45720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Application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Formulaire complet, 3 types de poste, barre d'étapes, synthèse, plan, PDF</a:t>
            </a:r>
            <a:endParaRPr lang="en-US" sz="1300" dirty="0"/>
          </a:p>
        </p:txBody>
      </p:sp>
      <p:sp>
        <p:nvSpPr>
          <p:cNvPr id="6" name="livrable1"/>
          <p:cNvSpPr/>
          <p:nvPr/>
        </p:nvSpPr>
        <p:spPr>
          <a:xfrm>
            <a:off x="324612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Automatisation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flux : accès, suivi et courriels, production du PDF</a:t>
            </a:r>
            <a:endParaRPr lang="en-US" sz="1300" dirty="0"/>
          </a:p>
        </p:txBody>
      </p:sp>
      <p:sp>
        <p:nvSpPr>
          <p:cNvPr id="9" name="livrable2"/>
          <p:cNvSpPr/>
          <p:nvPr/>
        </p:nvSpPr>
        <p:spPr>
          <a:xfrm>
            <a:off x="603504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Guide de mise en production, formules et flux de référence, dossier TI</a:t>
            </a:r>
            <a:endParaRPr lang="en-US" sz="1300" dirty="0"/>
          </a:p>
        </p:txBody>
      </p:sp>
      <p:sp>
        <p:nvSpPr>
          <p:cNvPr id="12" name="livrable3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Déploiement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747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Fichier des variables d'environnement, liste de vérification des TI</a:t>
            </a:r>
            <a:endParaRPr lang="en-US" sz="1300" dirty="0"/>
          </a:p>
        </p:txBody>
      </p:sp>
      <p:sp>
        <p:nvSpPr>
          <p:cNvPr id="15" name="livrable4"/>
          <p:cNvSpPr/>
          <p:nvPr/>
        </p:nvSpPr>
        <p:spPr>
          <a:xfrm>
            <a:off x="324612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Communication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4747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Guide d'utilisation, message d'annonce, schémas opérationnels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Prochaines étapes et décisions demandées</a:t>
            </a:r>
            <a:endParaRPr lang="en-US" sz="2800" dirty="0"/>
          </a:p>
        </p:txBody>
      </p:sp>
      <p:sp>
        <p:nvSpPr>
          <p:cNvPr id="3" name="suite0"/>
          <p:cNvSpPr/>
          <p:nvPr/>
        </p:nvSpPr>
        <p:spPr>
          <a:xfrm>
            <a:off x="502920" y="1179576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179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Demande de mise en PréProd aux TI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formulaire, solution gérée et fichier des variables</a:t>
            </a:r>
            <a:endParaRPr lang="en-US" sz="1400" dirty="0"/>
          </a:p>
        </p:txBody>
      </p:sp>
      <p:sp>
        <p:nvSpPr>
          <p:cNvPr id="6" name="suite1"/>
          <p:cNvSpPr/>
          <p:nvPr/>
        </p:nvSpPr>
        <p:spPr>
          <a:xfrm>
            <a:off x="502920" y="183794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837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801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Tests en PréProd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avec 4 comptes, procès-verbal</a:t>
            </a:r>
            <a:endParaRPr lang="en-US" sz="1400" dirty="0"/>
          </a:p>
        </p:txBody>
      </p:sp>
      <p:sp>
        <p:nvSpPr>
          <p:cNvPr id="9" name="suite2"/>
          <p:cNvSpPr/>
          <p:nvPr/>
        </p:nvSpPr>
        <p:spPr>
          <a:xfrm>
            <a:off x="502920" y="249631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496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45973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EFVP et conservation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responsable PRP et gestion documentaire</a:t>
            </a:r>
            <a:endParaRPr lang="en-US" sz="1400" dirty="0"/>
          </a:p>
        </p:txBody>
      </p:sp>
      <p:sp>
        <p:nvSpPr>
          <p:cNvPr id="12" name="suite3"/>
          <p:cNvSpPr/>
          <p:nvPr/>
        </p:nvSpPr>
        <p:spPr>
          <a:xfrm>
            <a:off x="502920" y="315468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1181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Mise en production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puis annonce et courte démonstration aux gestionnaires</a:t>
            </a:r>
            <a:endParaRPr lang="en-US" sz="1400" dirty="0"/>
          </a:p>
        </p:txBody>
      </p:sp>
      <p:sp>
        <p:nvSpPr>
          <p:cNvPr id="15" name="decisions"/>
          <p:cNvSpPr/>
          <p:nvPr/>
        </p:nvSpPr>
        <p:spPr>
          <a:xfrm>
            <a:off x="5897880" y="1097280"/>
            <a:ext cx="278892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98A"/>
                </a:solidFill>
              </a:rPr>
              <a:t>Nous demandons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691640"/>
            <a:ext cx="2468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Votre appui pour la mise en production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Une date cible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Une personne suppléante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Des testeurs gestionnaires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Merci — questions et démonstration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Annie Audet, Ressources humaines (RH-SST)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Appuis : documentation Microsoft Power Platform et équipe des TI (processus de mise en production)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le RH">
  <a:themeElements>
    <a:clrScheme name="Ville RH">
      <a:dk1>
        <a:srgbClr val="1F2937"/>
      </a:dk1>
      <a:lt1>
        <a:srgbClr val="FFFFFF"/>
      </a:lt1>
      <a:dk2>
        <a:srgbClr val="00285E"/>
      </a:dk2>
      <a:lt2>
        <a:srgbClr val="F3F5F9"/>
      </a:lt2>
      <a:accent1>
        <a:srgbClr val="857650"/>
      </a:accent1>
      <a:accent2>
        <a:srgbClr val="009E49"/>
      </a:accent2>
      <a:accent3>
        <a:srgbClr val="074B98"/>
      </a:accent3>
      <a:accent4>
        <a:srgbClr val="6B3FA0"/>
      </a:accent4>
      <a:accent5>
        <a:srgbClr val="B91C1C"/>
      </a:accent5>
      <a:accent6>
        <a:srgbClr val="6B7280"/>
      </a:accent6>
      <a:hlink>
        <a:srgbClr val="074B98"/>
      </a:hlink>
      <a:folHlink>
        <a:srgbClr val="6B3FA0"/>
      </a:folHlink>
    </a:clrScheme>
    <a:fontScheme name="Ville R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Appréciation de la contribution — du Word à l'application</dc:title>
  <dc:subject>PptxGenJS Presentation</dc:subject>
  <dc:creator>Annie Audet</dc:creator>
  <cp:lastModifiedBy>Annie Audet</cp:lastModifiedBy>
  <cp:revision>1</cp:revision>
  <dcterms:created xsi:type="dcterms:W3CDTF">2026-10-27T22:37:39Z</dcterms:created>
  <dcterms:modified xsi:type="dcterms:W3CDTF">2026-10-27T22:37:39Z</dcterms:modified>
</cp:coreProperties>
</file>